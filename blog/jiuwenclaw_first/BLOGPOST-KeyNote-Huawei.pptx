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7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709"/>
  </p:normalViewPr>
  <p:slideViewPr>
    <p:cSldViewPr snapToGrid="0" snapToObjects="1">
      <p:cViewPr varScale="1">
        <p:scale>
          <a:sx n="110" d="100"/>
          <a:sy n="110" d="100"/>
        </p:scale>
        <p:origin x="56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F0F0F0"/>
                </a:solidFill>
                <a:latin typeface="Arial"/>
              </a:rPr>
              <a:t>OpenJiuwen</a:t>
            </a:r>
            <a:r>
              <a:rPr lang="en-US" sz="1400" dirty="0">
                <a:solidFill>
                  <a:srgbClr val="F0F0F0"/>
                </a:solidFill>
                <a:latin typeface="Arial"/>
              </a:rPr>
              <a:t> Community  ·  </a:t>
            </a:r>
            <a:r>
              <a:rPr lang="en-US" sz="1400" dirty="0" err="1">
                <a:solidFill>
                  <a:srgbClr val="F0F0F0"/>
                </a:solidFill>
                <a:latin typeface="Arial"/>
              </a:rPr>
              <a:t>JiuwenClaw</a:t>
            </a:r>
            <a:r>
              <a:rPr lang="en-US" sz="1400" dirty="0">
                <a:solidFill>
                  <a:srgbClr val="F0F0F0"/>
                </a:solidFill>
                <a:latin typeface="Arial"/>
              </a:rPr>
              <a:t>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0F0F0"/>
                </a:solidFill>
                <a:latin typeface="Calibri"/>
              </a:rPr>
              <a:t>Building the Intelligent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C7000B"/>
                </a:solidFill>
                <a:latin typeface="Calibri"/>
              </a:rPr>
              <a:t>for the Next Decade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10881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 err="1">
                <a:solidFill>
                  <a:srgbClr val="F0F0F0"/>
                </a:solidFill>
                <a:latin typeface="Arial"/>
              </a:rPr>
              <a:t>JiuwenClaw</a:t>
            </a:r>
            <a:r>
              <a:rPr lang="en-US" sz="2000" i="1" dirty="0">
                <a:solidFill>
                  <a:srgbClr val="F0F0F0"/>
                </a:solidFill>
                <a:latin typeface="Arial"/>
              </a:rPr>
              <a:t>: Architect AND Intelligence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0F0"/>
                </a:solidFill>
                <a:latin typeface="Calibri"/>
              </a:rPr>
              <a:t>Huawei Developer Conference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0F0"/>
                </a:solidFill>
                <a:latin typeface="Calibri"/>
              </a:rPr>
              <a:t>One Architectural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chemeClr val="bg1"/>
                </a:solidFill>
                <a:latin typeface="Calibri"/>
              </a:rPr>
              <a:t>That will define intelligent systems for the decade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881360" cy="127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881360" cy="1920240"/>
          </a:xfrm>
          <a:prstGeom prst="rect">
            <a:avLst/>
          </a:prstGeom>
          <a:solidFill>
            <a:srgbClr val="161624"/>
          </a:solidFill>
          <a:ln w="254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F0F0"/>
                </a:solidFill>
                <a:latin typeface="Calibri"/>
              </a:rPr>
              <a:t>The agent that creates the thin client
is also the intelligence backbone the thin client calls at runtime.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" y="3657600"/>
            <a:ext cx="3383280" cy="13716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500" b="1">
                <a:solidFill>
                  <a:srgbClr val="F0F0F0"/>
                </a:solidFill>
                <a:latin typeface="Calibri"/>
              </a:rPr>
              <a:t>🏗️  Architect
Designs and engineers
the thin 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2836" y="3657600"/>
            <a:ext cx="3383280" cy="13716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500" b="1">
                <a:solidFill>
                  <a:srgbClr val="F0F0F0"/>
                </a:solidFill>
                <a:latin typeface="Calibri"/>
              </a:rPr>
              <a:t>⚡  Intelligence Engine
Powers all reasoning when
the product calls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0436" y="3657600"/>
            <a:ext cx="3383280" cy="137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500" b="1">
                <a:solidFill>
                  <a:srgbClr val="F0F0F0"/>
                </a:solidFill>
                <a:latin typeface="Calibri"/>
              </a:rPr>
              <a:t>🔄  Self-Evolves
Skills Autonomous Evolution —
continuous improvement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088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 dirty="0">
                <a:solidFill>
                  <a:schemeClr val="bg1"/>
                </a:solidFill>
                <a:latin typeface="Calibri"/>
              </a:rPr>
              <a:t>One agent. Two roles. Continuous evolution.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0F0"/>
                </a:solidFill>
                <a:latin typeface="Calibri"/>
              </a:rPr>
              <a:t>The Two-Role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 err="1">
                <a:solidFill>
                  <a:schemeClr val="bg1"/>
                </a:solidFill>
                <a:latin typeface="Calibri"/>
              </a:rPr>
              <a:t>JiuwenClaw</a:t>
            </a:r>
            <a:r>
              <a:rPr sz="1600" b="0" i="1" dirty="0">
                <a:solidFill>
                  <a:schemeClr val="bg1"/>
                </a:solidFill>
                <a:latin typeface="Calibri"/>
              </a:rPr>
              <a:t> and </a:t>
            </a:r>
            <a:r>
              <a:rPr sz="1600" b="0" i="1" dirty="0" err="1">
                <a:solidFill>
                  <a:schemeClr val="bg1"/>
                </a:solidFill>
                <a:latin typeface="Calibri"/>
              </a:rPr>
              <a:t>TripWise</a:t>
            </a:r>
            <a:r>
              <a:rPr sz="1600" b="0" i="1" dirty="0">
                <a:solidFill>
                  <a:schemeClr val="bg1"/>
                </a:solidFill>
                <a:latin typeface="Calibri"/>
              </a:rPr>
              <a:t> — a working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881360" cy="127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000B"/>
                </a:solidFill>
                <a:latin typeface="Calibri"/>
              </a:rPr>
              <a:t>Phase 1: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  <a:latin typeface="Calibri"/>
              </a:rPr>
              <a:t>•  JiuwenClaw engineers the thin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  <a:latin typeface="Calibri"/>
              </a:rPr>
              <a:t>•  Backend · Frontend · Prompts · Schemas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  <a:latin typeface="Calibri"/>
              </a:rPr>
              <a:t>•  Complete architecture — zero domain logic in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722"/>
                </a:solidFill>
                <a:latin typeface="Calibri"/>
              </a:rPr>
              <a:t>Phase 2: 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  <a:latin typeface="Calibri"/>
              </a:rPr>
              <a:t>•  Thin client calls JiuwenClaw on every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  <a:latin typeface="Calibri"/>
              </a:rPr>
              <a:t>•  JiuwenClaw: multi-step reasoning, tools,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  <a:latin typeface="Calibri"/>
              </a:rPr>
              <a:t>•  Returns schema-validated JSON — rendered by client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011680"/>
            <a:ext cx="4114800" cy="9144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500" b="1">
                <a:solidFill>
                  <a:srgbClr val="F0F0F0"/>
                </a:solidFill>
                <a:latin typeface="Calibri"/>
              </a:rPr>
              <a:t>🧠 JiuwenClaw
Architect AND Intelligence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4389120"/>
            <a:ext cx="4114800" cy="914400"/>
          </a:xfrm>
          <a:prstGeom prst="rect">
            <a:avLst/>
          </a:prstGeom>
          <a:solidFill>
            <a:srgbClr val="161624"/>
          </a:solidFill>
          <a:ln w="2540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500" b="0" dirty="0">
                <a:solidFill>
                  <a:srgbClr val="F0F0F0"/>
                </a:solidFill>
                <a:latin typeface="Calibri"/>
              </a:rPr>
              <a:t>🖥️ </a:t>
            </a:r>
            <a:r>
              <a:rPr sz="1500" b="0" dirty="0" err="1">
                <a:solidFill>
                  <a:srgbClr val="F0F0F0"/>
                </a:solidFill>
                <a:latin typeface="Calibri"/>
              </a:rPr>
              <a:t>TripWise</a:t>
            </a:r>
            <a:r>
              <a:rPr sz="1500" b="0" dirty="0">
                <a:solidFill>
                  <a:srgbClr val="F0F0F0"/>
                </a:solidFill>
                <a:latin typeface="Calibri"/>
              </a:rPr>
              <a:t>
(Thin Client — No Business Logic)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2926080"/>
            <a:ext cx="0" cy="1463040"/>
          </a:xfrm>
          <a:prstGeom prst="line">
            <a:avLst/>
          </a:prstGeom>
          <a:ln w="2540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73132" y="3434276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chemeClr val="bg1"/>
                </a:solidFill>
                <a:latin typeface="Calibri"/>
              </a:rPr>
              <a:t>① Buil</a:t>
            </a:r>
            <a:r>
              <a:rPr lang="en-US" sz="1300" b="1" i="0" dirty="0">
                <a:solidFill>
                  <a:schemeClr val="bg1"/>
                </a:solidFill>
                <a:latin typeface="Calibri"/>
              </a:rPr>
              <a:t>ds</a:t>
            </a:r>
            <a:endParaRPr sz="1300" b="1" i="0" dirty="0">
              <a:solidFill>
                <a:schemeClr val="bg1"/>
              </a:solidFill>
              <a:latin typeface="Calibri"/>
            </a:endParaRPr>
          </a:p>
        </p:txBody>
      </p:sp>
      <p:cxnSp>
        <p:nvCxnSpPr>
          <p:cNvPr id="18" name="Connector 17"/>
          <p:cNvCxnSpPr/>
          <p:nvPr/>
        </p:nvCxnSpPr>
        <p:spPr>
          <a:xfrm flipV="1">
            <a:off x="0" y="2926080"/>
            <a:ext cx="0" cy="1463040"/>
          </a:xfrm>
          <a:prstGeom prst="line">
            <a:avLst/>
          </a:prstGeom>
          <a:ln w="25400">
            <a:solidFill>
              <a:srgbClr val="E877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520310" y="3358660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chemeClr val="bg1"/>
                </a:solidFill>
                <a:latin typeface="Calibri"/>
              </a:rPr>
              <a:t>② Calls for </a:t>
            </a:r>
            <a:endParaRPr lang="en-US" sz="1200" b="0" i="1" dirty="0">
              <a:solidFill>
                <a:schemeClr val="bg1"/>
              </a:solidFill>
              <a:latin typeface="Calibri"/>
            </a:endParaRPr>
          </a:p>
          <a:p>
            <a:pPr algn="l"/>
            <a:r>
              <a:rPr lang="en-US" sz="1200" b="0" i="1" dirty="0">
                <a:solidFill>
                  <a:schemeClr val="bg1"/>
                </a:solidFill>
                <a:latin typeface="Calibri"/>
              </a:rPr>
              <a:t>I</a:t>
            </a:r>
            <a:r>
              <a:rPr sz="1200" b="0" i="1" dirty="0">
                <a:solidFill>
                  <a:schemeClr val="bg1"/>
                </a:solidFill>
                <a:latin typeface="Calibri"/>
              </a:rPr>
              <a:t>ntelligence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36DFB2E5-3008-F228-88BF-4737168BC949}"/>
              </a:ext>
            </a:extLst>
          </p:cNvPr>
          <p:cNvSpPr/>
          <p:nvPr/>
        </p:nvSpPr>
        <p:spPr>
          <a:xfrm rot="14498035">
            <a:off x="6868035" y="3305455"/>
            <a:ext cx="2445163" cy="1433146"/>
          </a:xfrm>
          <a:prstGeom prst="arc">
            <a:avLst/>
          </a:prstGeom>
          <a:ln>
            <a:solidFill>
              <a:schemeClr val="bg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3EFF53A7-4978-DABA-9A42-24166C33A78F}"/>
              </a:ext>
            </a:extLst>
          </p:cNvPr>
          <p:cNvSpPr/>
          <p:nvPr/>
        </p:nvSpPr>
        <p:spPr>
          <a:xfrm rot="3589315">
            <a:off x="8427202" y="2557524"/>
            <a:ext cx="2445163" cy="1433146"/>
          </a:xfrm>
          <a:prstGeom prst="arc">
            <a:avLst/>
          </a:prstGeom>
          <a:ln>
            <a:solidFill>
              <a:schemeClr val="bg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0F0"/>
                </a:solidFill>
                <a:latin typeface="Calibri"/>
              </a:rPr>
              <a:t>JiuwenClaw: Full-Stack Intelligent Agent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127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371600" cy="10515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700" b="1">
                <a:solidFill>
                  <a:srgbClr val="F0F0F0"/>
                </a:solidFill>
                <a:latin typeface="Calibri"/>
              </a:rPr>
              <a:t>Architect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600200"/>
            <a:ext cx="9418320" cy="1051560"/>
          </a:xfrm>
          <a:prstGeom prst="rect">
            <a:avLst/>
          </a:prstGeom>
          <a:solidFill>
            <a:srgbClr val="161624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500" b="0">
                <a:solidFill>
                  <a:srgbClr val="F0F0F0"/>
                </a:solidFill>
                <a:latin typeface="Calibri"/>
              </a:rPr>
              <a:t>Designs and engineers complete thin-client applications
— from architecture to prompt schemas to UI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1371600" cy="10515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700" b="1">
                <a:solidFill>
                  <a:srgbClr val="F0F0F0"/>
                </a:solidFill>
                <a:latin typeface="Calibri"/>
              </a:rPr>
              <a:t>Power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834640"/>
            <a:ext cx="9418320" cy="1051560"/>
          </a:xfrm>
          <a:prstGeom prst="rect">
            <a:avLst/>
          </a:prstGeom>
          <a:solidFill>
            <a:srgbClr val="161624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500" b="0">
                <a:solidFill>
                  <a:srgbClr val="F0F0F0"/>
                </a:solidFill>
                <a:latin typeface="Calibri"/>
              </a:rPr>
              <a:t>Provides multi-step reasoning, tool use, and browser
automation when called by the products it built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69080"/>
            <a:ext cx="1371600" cy="10515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700" b="1">
                <a:solidFill>
                  <a:srgbClr val="F0F0F0"/>
                </a:solidFill>
                <a:latin typeface="Calibri"/>
              </a:rPr>
              <a:t>Evolve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4069080"/>
            <a:ext cx="9418320" cy="1051560"/>
          </a:xfrm>
          <a:prstGeom prst="rect">
            <a:avLst/>
          </a:prstGeom>
          <a:solidFill>
            <a:srgbClr val="161624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500" b="0">
                <a:solidFill>
                  <a:srgbClr val="F0F0F0"/>
                </a:solidFill>
                <a:latin typeface="Calibri"/>
              </a:rPr>
              <a:t>Skills Autonomous Evolution — captures failures
and self-improves continuously without redeployment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303520"/>
            <a:ext cx="1371600" cy="1051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700" b="1">
                <a:solidFill>
                  <a:srgbClr val="F0F0F0"/>
                </a:solidFill>
                <a:latin typeface="Calibri"/>
              </a:rPr>
              <a:t>Integrate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5303520"/>
            <a:ext cx="9418320" cy="1051560"/>
          </a:xfrm>
          <a:prstGeom prst="rect">
            <a:avLst/>
          </a:prstGeom>
          <a:solidFill>
            <a:srgbClr val="161624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500" b="0">
                <a:solidFill>
                  <a:srgbClr val="F0F0F0"/>
                </a:solidFill>
                <a:latin typeface="Calibri"/>
              </a:rPr>
              <a:t>WebSocket (JiuwenClaw) and REST (OpenJiuwen) interfaces
for seamless integration into any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95014"/>
            <a:ext cx="10881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chemeClr val="bg1"/>
                </a:solidFill>
                <a:latin typeface="Calibri"/>
              </a:rPr>
              <a:t>The same agent that engineers the thin client is the intelligence the thin client calls.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0F0"/>
                </a:solidFill>
                <a:latin typeface="Calibri"/>
              </a:rPr>
              <a:t>2026 Trend 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chemeClr val="bg1"/>
                </a:solidFill>
                <a:latin typeface="Calibri"/>
              </a:rPr>
              <a:t>Eight industry trends — all pointing at one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881360" cy="127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3017520" cy="521207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1">
                <a:solidFill>
                  <a:srgbClr val="F0F0F0"/>
                </a:solidFill>
                <a:latin typeface="Calibri"/>
              </a:rPr>
              <a:t>Harnessing Agents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1600200"/>
            <a:ext cx="8138160" cy="521207"/>
          </a:xfrm>
          <a:prstGeom prst="rect">
            <a:avLst/>
          </a:prstGeom>
          <a:solidFill>
            <a:srgbClr val="161624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0">
                <a:solidFill>
                  <a:srgbClr val="F0F0F0"/>
                </a:solidFill>
                <a:latin typeface="Calibri"/>
              </a:rPr>
              <a:t>Thin clients call JiuwenClaw via structured prompts + 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39"/>
            <a:ext cx="3017520" cy="521207"/>
          </a:xfrm>
          <a:prstGeom prst="rect">
            <a:avLst/>
          </a:prstGeom>
          <a:solidFill>
            <a:srgbClr val="7A0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1">
                <a:solidFill>
                  <a:srgbClr val="F0F0F0"/>
                </a:solidFill>
                <a:latin typeface="Calibri"/>
              </a:rPr>
              <a:t>Agent Substrate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2148839"/>
            <a:ext cx="8138160" cy="521207"/>
          </a:xfrm>
          <a:prstGeom prst="rect">
            <a:avLst/>
          </a:prstGeom>
          <a:solidFill>
            <a:srgbClr val="161624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0">
                <a:solidFill>
                  <a:srgbClr val="F0F0F0"/>
                </a:solidFill>
                <a:latin typeface="Calibri"/>
              </a:rPr>
              <a:t>Remove JiuwenClaw and the application is an empty shell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97478"/>
            <a:ext cx="3017520" cy="521207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1">
                <a:solidFill>
                  <a:srgbClr val="F0F0F0"/>
                </a:solidFill>
                <a:latin typeface="Calibri"/>
              </a:rPr>
              <a:t>Self-Refining Systems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697478"/>
            <a:ext cx="8138160" cy="521207"/>
          </a:xfrm>
          <a:prstGeom prst="rect">
            <a:avLst/>
          </a:prstGeom>
          <a:solidFill>
            <a:srgbClr val="161624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0">
                <a:solidFill>
                  <a:srgbClr val="F0F0F0"/>
                </a:solidFill>
                <a:latin typeface="Calibri"/>
              </a:rPr>
              <a:t>Skills Autonomous Evolution — improves without human redeployment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46117"/>
            <a:ext cx="3017520" cy="521207"/>
          </a:xfrm>
          <a:prstGeom prst="rect">
            <a:avLst/>
          </a:prstGeom>
          <a:solidFill>
            <a:srgbClr val="7A0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1">
                <a:solidFill>
                  <a:srgbClr val="F0F0F0"/>
                </a:solidFill>
                <a:latin typeface="Calibri"/>
              </a:rPr>
              <a:t>Ambient Agents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3246117"/>
            <a:ext cx="8138160" cy="521207"/>
          </a:xfrm>
          <a:prstGeom prst="rect">
            <a:avLst/>
          </a:prstGeom>
          <a:solidFill>
            <a:srgbClr val="161624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0">
                <a:solidFill>
                  <a:srgbClr val="F0F0F0"/>
                </a:solidFill>
                <a:latin typeface="Calibri"/>
              </a:rPr>
              <a:t>Operates real browsers: cookies, sessions, authenticated interfaces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94756"/>
            <a:ext cx="3017520" cy="521207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1">
                <a:solidFill>
                  <a:srgbClr val="F0F0F0"/>
                </a:solidFill>
                <a:latin typeface="Calibri"/>
              </a:rPr>
              <a:t>Executable Intelligence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3794756"/>
            <a:ext cx="8138160" cy="521207"/>
          </a:xfrm>
          <a:prstGeom prst="rect">
            <a:avLst/>
          </a:prstGeom>
          <a:solidFill>
            <a:srgbClr val="161624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0">
                <a:solidFill>
                  <a:srgbClr val="F0F0F0"/>
                </a:solidFill>
                <a:latin typeface="Calibri"/>
              </a:rPr>
              <a:t>Schema-validated JSON, directly parsed into application state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343395"/>
            <a:ext cx="3017520" cy="521207"/>
          </a:xfrm>
          <a:prstGeom prst="rect">
            <a:avLst/>
          </a:prstGeom>
          <a:solidFill>
            <a:srgbClr val="7A0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1">
                <a:solidFill>
                  <a:srgbClr val="F0F0F0"/>
                </a:solidFill>
                <a:latin typeface="Calibri"/>
              </a:rPr>
              <a:t>Business-Native Agents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4343395"/>
            <a:ext cx="8138160" cy="521207"/>
          </a:xfrm>
          <a:prstGeom prst="rect">
            <a:avLst/>
          </a:prstGeom>
          <a:solidFill>
            <a:srgbClr val="161624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0">
                <a:solidFill>
                  <a:srgbClr val="F0F0F0"/>
                </a:solidFill>
                <a:latin typeface="Calibri"/>
              </a:rPr>
              <a:t>JiuwenClaw IS the domain logic — built by agent, called by thin client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92034"/>
            <a:ext cx="3017520" cy="521207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1">
                <a:solidFill>
                  <a:srgbClr val="F0F0F0"/>
                </a:solidFill>
                <a:latin typeface="Calibri"/>
              </a:rPr>
              <a:t>Agentic Operating Layers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4892034"/>
            <a:ext cx="8138160" cy="521207"/>
          </a:xfrm>
          <a:prstGeom prst="rect">
            <a:avLst/>
          </a:prstGeom>
          <a:solidFill>
            <a:srgbClr val="161624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0">
                <a:solidFill>
                  <a:srgbClr val="F0F0F0"/>
                </a:solidFill>
                <a:latin typeface="Calibri"/>
              </a:rPr>
              <a:t>Applications call JiuwenClaw — the intelligence layer between app and 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40673"/>
            <a:ext cx="3017520" cy="521207"/>
          </a:xfrm>
          <a:prstGeom prst="rect">
            <a:avLst/>
          </a:prstGeom>
          <a:solidFill>
            <a:srgbClr val="7A0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1">
                <a:solidFill>
                  <a:srgbClr val="F0F0F0"/>
                </a:solidFill>
                <a:latin typeface="Calibri"/>
              </a:rPr>
              <a:t>Autonomous Verticalization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5440673"/>
            <a:ext cx="8138160" cy="521207"/>
          </a:xfrm>
          <a:prstGeom prst="rect">
            <a:avLst/>
          </a:prstGeom>
          <a:solidFill>
            <a:srgbClr val="161624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0">
                <a:solidFill>
                  <a:srgbClr val="F0F0F0"/>
                </a:solidFill>
                <a:latin typeface="Calibri"/>
              </a:rPr>
              <a:t>One architecture. Any domain. Zero structural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0F0"/>
                </a:solidFill>
                <a:latin typeface="Calibri"/>
              </a:rPr>
              <a:t>Scenario Demonstration: TripWise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chemeClr val="bg1"/>
                </a:solidFill>
                <a:latin typeface="Calibri"/>
              </a:rPr>
              <a:t>Zero domain logic in the client — all intelligence called from </a:t>
            </a:r>
            <a:r>
              <a:rPr sz="1600" b="0" i="1" dirty="0" err="1">
                <a:solidFill>
                  <a:schemeClr val="bg1"/>
                </a:solidFill>
                <a:latin typeface="Calibri"/>
              </a:rPr>
              <a:t>JiuwenClaw</a:t>
            </a:r>
            <a:endParaRPr sz="1600" b="0" i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881360" cy="127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70230"/>
            <a:ext cx="10881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chemeClr val="bg1"/>
                </a:solidFill>
                <a:latin typeface="Calibri"/>
              </a:rPr>
              <a:t>Key insight: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35990"/>
            <a:ext cx="10881360" cy="685800"/>
          </a:xfrm>
          <a:prstGeom prst="rect">
            <a:avLst/>
          </a:prstGeom>
          <a:solidFill>
            <a:srgbClr val="161624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500" b="0">
                <a:solidFill>
                  <a:srgbClr val="F0F0F0"/>
                </a:solidFill>
                <a:latin typeface="Calibri"/>
              </a:rPr>
              <a:t>TripWise is a pure thin client. It has no domain logic. JiuwenClaw built it. TripWise calls JiuwenClaw at runtime for every answer.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5276" y="2950390"/>
            <a:ext cx="1508760" cy="822960"/>
          </a:xfrm>
          <a:prstGeom prst="rect">
            <a:avLst/>
          </a:prstGeom>
          <a:solidFill>
            <a:srgbClr val="161624"/>
          </a:solidFill>
          <a:ln>
            <a:solidFill>
              <a:srgbClr val="E87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300" b="0">
                <a:solidFill>
                  <a:srgbClr val="F0F0F0"/>
                </a:solidFill>
                <a:latin typeface="Calibri"/>
              </a:rPr>
              <a:t>👤 User
Input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A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75204" y="2950390"/>
            <a:ext cx="1508760" cy="822960"/>
          </a:xfrm>
          <a:prstGeom prst="rect">
            <a:avLst/>
          </a:prstGeom>
          <a:solidFill>
            <a:srgbClr val="C7000B"/>
          </a:solidFill>
          <a:ln w="1270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300" b="1">
                <a:solidFill>
                  <a:srgbClr val="F0F0F0"/>
                </a:solidFill>
                <a:latin typeface="Calibri"/>
              </a:rPr>
              <a:t>🌍 Destinations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A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485132" y="2950390"/>
            <a:ext cx="1508760" cy="822960"/>
          </a:xfrm>
          <a:prstGeom prst="rect">
            <a:avLst/>
          </a:prstGeom>
          <a:solidFill>
            <a:srgbClr val="C7000B"/>
          </a:solidFill>
          <a:ln w="1270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300" b="1">
                <a:solidFill>
                  <a:srgbClr val="F0F0F0"/>
                </a:solidFill>
                <a:latin typeface="Calibri"/>
              </a:rPr>
              <a:t>✈️ Flights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A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195060" y="2950390"/>
            <a:ext cx="1508760" cy="822960"/>
          </a:xfrm>
          <a:prstGeom prst="rect">
            <a:avLst/>
          </a:prstGeom>
          <a:solidFill>
            <a:srgbClr val="C7000B"/>
          </a:solidFill>
          <a:ln w="1270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300" b="1">
                <a:solidFill>
                  <a:srgbClr val="F0F0F0"/>
                </a:solidFill>
                <a:latin typeface="Calibri"/>
              </a:rPr>
              <a:t>🏨 Hotels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A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904988" y="2950390"/>
            <a:ext cx="1508760" cy="822960"/>
          </a:xfrm>
          <a:prstGeom prst="rect">
            <a:avLst/>
          </a:prstGeom>
          <a:solidFill>
            <a:srgbClr val="C7000B"/>
          </a:solidFill>
          <a:ln w="1270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300" b="1">
                <a:solidFill>
                  <a:srgbClr val="F0F0F0"/>
                </a:solidFill>
                <a:latin typeface="Calibri"/>
              </a:rPr>
              <a:t>🎭 Attractions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A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614916" y="2950390"/>
            <a:ext cx="1508760" cy="822960"/>
          </a:xfrm>
          <a:prstGeom prst="rect">
            <a:avLst/>
          </a:prstGeom>
          <a:solidFill>
            <a:srgbClr val="C7000B"/>
          </a:solidFill>
          <a:ln w="1270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300" b="1">
                <a:solidFill>
                  <a:srgbClr val="F0F0F0"/>
                </a:solidFill>
                <a:latin typeface="Calibri"/>
              </a:rPr>
              <a:t>📅 Itinerary
+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64789"/>
            <a:ext cx="10881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chemeClr val="bg1"/>
                </a:solidFill>
                <a:latin typeface="Calibri"/>
              </a:rPr>
              <a:t>Each → = </a:t>
            </a:r>
            <a:r>
              <a:rPr sz="1300" b="0" i="1" dirty="0" err="1">
                <a:solidFill>
                  <a:schemeClr val="bg1"/>
                </a:solidFill>
                <a:latin typeface="Calibri"/>
              </a:rPr>
              <a:t>TripWise</a:t>
            </a:r>
            <a:r>
              <a:rPr sz="1300" b="0" i="1" dirty="0">
                <a:solidFill>
                  <a:schemeClr val="bg1"/>
                </a:solidFill>
                <a:latin typeface="Calibri"/>
              </a:rPr>
              <a:t> calls </a:t>
            </a:r>
            <a:r>
              <a:rPr sz="1300" b="0" i="1" dirty="0" err="1">
                <a:solidFill>
                  <a:schemeClr val="bg1"/>
                </a:solidFill>
                <a:latin typeface="Calibri"/>
              </a:rPr>
              <a:t>JiuwenClaw</a:t>
            </a:r>
            <a:r>
              <a:rPr sz="1300" b="0" i="1" dirty="0">
                <a:solidFill>
                  <a:schemeClr val="bg1"/>
                </a:solidFill>
                <a:latin typeface="Calibri"/>
              </a:rPr>
              <a:t>  ·  </a:t>
            </a:r>
            <a:r>
              <a:rPr sz="1300" b="0" i="1" dirty="0" err="1">
                <a:solidFill>
                  <a:schemeClr val="bg1"/>
                </a:solidFill>
                <a:latin typeface="Calibri"/>
              </a:rPr>
              <a:t>JiuwenClaw</a:t>
            </a:r>
            <a:r>
              <a:rPr sz="1300" b="0" i="1" dirty="0">
                <a:solidFill>
                  <a:schemeClr val="bg1"/>
                </a:solidFill>
                <a:latin typeface="Calibri"/>
              </a:rPr>
              <a:t> returns JSON  ·  </a:t>
            </a:r>
            <a:r>
              <a:rPr sz="1300" b="0" i="1" dirty="0" err="1">
                <a:solidFill>
                  <a:schemeClr val="bg1"/>
                </a:solidFill>
                <a:latin typeface="Calibri"/>
              </a:rPr>
              <a:t>TripWise</a:t>
            </a:r>
            <a:r>
              <a:rPr sz="1300" b="0" i="1" dirty="0">
                <a:solidFill>
                  <a:schemeClr val="bg1"/>
                </a:solidFill>
                <a:latin typeface="Calibri"/>
              </a:rPr>
              <a:t> renders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645483-367A-C4A1-61DD-2F0BF4C42674}"/>
              </a:ext>
            </a:extLst>
          </p:cNvPr>
          <p:cNvSpPr txBox="1"/>
          <p:nvPr/>
        </p:nvSpPr>
        <p:spPr>
          <a:xfrm>
            <a:off x="640080" y="4704532"/>
            <a:ext cx="10881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0F0F0"/>
                </a:solidFill>
                <a:latin typeface="Calibri"/>
              </a:rPr>
              <a:t>The </a:t>
            </a:r>
            <a:r>
              <a:rPr sz="1400" b="1" i="0" dirty="0" err="1">
                <a:solidFill>
                  <a:srgbClr val="F0F0F0"/>
                </a:solidFill>
                <a:latin typeface="Calibri"/>
              </a:rPr>
              <a:t>openJiuwen</a:t>
            </a:r>
            <a:r>
              <a:rPr sz="1400" b="1" i="0" dirty="0">
                <a:solidFill>
                  <a:srgbClr val="F0F0F0"/>
                </a:solidFill>
                <a:latin typeface="Calibri"/>
              </a:rPr>
              <a:t> Ecosystem — Two Equal Integration Paths: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3F7B6C-3CE5-50C1-6BD4-23CA83218AA5}"/>
              </a:ext>
            </a:extLst>
          </p:cNvPr>
          <p:cNvSpPr/>
          <p:nvPr/>
        </p:nvSpPr>
        <p:spPr>
          <a:xfrm>
            <a:off x="640080" y="5116012"/>
            <a:ext cx="5212080" cy="7315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300" b="1">
                <a:solidFill>
                  <a:srgbClr val="F0F0F0"/>
                </a:solidFill>
                <a:latin typeface="Calibri"/>
              </a:rPr>
              <a:t>🧠 JiuwenClaw
Live hosted agent  ·  WebSocket  ·  No setup needed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056DCD-30D6-56D5-B6B2-B78F3ED53F5C}"/>
              </a:ext>
            </a:extLst>
          </p:cNvPr>
          <p:cNvSpPr txBox="1"/>
          <p:nvPr/>
        </p:nvSpPr>
        <p:spPr>
          <a:xfrm>
            <a:off x="640080" y="5893252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chemeClr val="bg1"/>
                </a:solidFill>
                <a:latin typeface="Calibri"/>
              </a:rPr>
              <a:t>Use the live community agent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2557D-D6C1-ECFD-9626-BE6859B6386B}"/>
              </a:ext>
            </a:extLst>
          </p:cNvPr>
          <p:cNvSpPr/>
          <p:nvPr/>
        </p:nvSpPr>
        <p:spPr>
          <a:xfrm>
            <a:off x="6126480" y="5116012"/>
            <a:ext cx="5394960" cy="731520"/>
          </a:xfrm>
          <a:prstGeom prst="rect">
            <a:avLst/>
          </a:prstGeom>
          <a:solidFill>
            <a:srgbClr val="161624"/>
          </a:solidFill>
          <a:ln w="2540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300" b="0">
                <a:solidFill>
                  <a:srgbClr val="F0F0F0"/>
                </a:solidFill>
                <a:latin typeface="Calibri"/>
              </a:rPr>
              <a:t>🔧 OpenJiuwen
Build your own private agent  ·  REST  ·  Full ownership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AF504A-22A5-42CE-54F0-17CA1E310806}"/>
              </a:ext>
            </a:extLst>
          </p:cNvPr>
          <p:cNvSpPr txBox="1"/>
          <p:nvPr/>
        </p:nvSpPr>
        <p:spPr>
          <a:xfrm>
            <a:off x="6126480" y="5893252"/>
            <a:ext cx="5394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chemeClr val="bg1"/>
                </a:solidFill>
                <a:latin typeface="Calibri"/>
              </a:rPr>
              <a:t>Own your intelligence layer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23909B-D903-9EF1-FB7B-A7676E35C503}"/>
              </a:ext>
            </a:extLst>
          </p:cNvPr>
          <p:cNvSpPr txBox="1"/>
          <p:nvPr/>
        </p:nvSpPr>
        <p:spPr>
          <a:xfrm>
            <a:off x="640080" y="6304732"/>
            <a:ext cx="10881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chemeClr val="bg1"/>
                </a:solidFill>
                <a:latin typeface="Calibri"/>
              </a:rPr>
              <a:t>Both paths are architecturally identical from </a:t>
            </a:r>
            <a:r>
              <a:rPr sz="1200" b="0" i="1" dirty="0" err="1">
                <a:solidFill>
                  <a:schemeClr val="bg1"/>
                </a:solidFill>
                <a:latin typeface="Calibri"/>
              </a:rPr>
              <a:t>TripWise's</a:t>
            </a:r>
            <a:r>
              <a:rPr sz="1200" b="0" i="1" dirty="0">
                <a:solidFill>
                  <a:schemeClr val="bg1"/>
                </a:solidFill>
                <a:latin typeface="Calibri"/>
              </a:rPr>
              <a:t> perspective. Same prompts. Same JSON back. The ecosystem answers your way.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0F0"/>
                </a:solidFill>
                <a:latin typeface="Calibri"/>
              </a:rPr>
              <a:t>The Pattern Is Universal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chemeClr val="bg1"/>
                </a:solidFill>
                <a:latin typeface="Calibri"/>
              </a:rPr>
              <a:t>Any domain where intelligence is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881360" cy="127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4937760" cy="731520"/>
          </a:xfrm>
          <a:prstGeom prst="rect">
            <a:avLst/>
          </a:prstGeom>
          <a:solidFill>
            <a:srgbClr val="161624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0">
                <a:solidFill>
                  <a:srgbClr val="F0F0F0"/>
                </a:solidFill>
                <a:latin typeface="Calibri"/>
              </a:rPr>
              <a:t>Travel &amp; Hospitality
Trip planning · Booking · Concierge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600200"/>
            <a:ext cx="4937760" cy="731520"/>
          </a:xfrm>
          <a:prstGeom prst="rect">
            <a:avLst/>
          </a:prstGeom>
          <a:solidFill>
            <a:srgbClr val="161624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0">
                <a:solidFill>
                  <a:srgbClr val="F0F0F0"/>
                </a:solidFill>
                <a:latin typeface="Calibri"/>
              </a:rPr>
              <a:t>Enterprise Operations
Procurement · HR · Compliance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4937760" cy="731520"/>
          </a:xfrm>
          <a:prstGeom prst="rect">
            <a:avLst/>
          </a:prstGeom>
          <a:solidFill>
            <a:srgbClr val="161624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0">
                <a:solidFill>
                  <a:srgbClr val="F0F0F0"/>
                </a:solidFill>
                <a:latin typeface="Calibri"/>
              </a:rPr>
              <a:t>Healthcare
Patient intake · Diagnostics · Care pathways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606040"/>
            <a:ext cx="4937760" cy="731520"/>
          </a:xfrm>
          <a:prstGeom prst="rect">
            <a:avLst/>
          </a:prstGeom>
          <a:solidFill>
            <a:srgbClr val="161624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0">
                <a:solidFill>
                  <a:srgbClr val="F0F0F0"/>
                </a:solidFill>
                <a:latin typeface="Calibri"/>
              </a:rPr>
              <a:t>Financial Services
Loan processing · Portfolio ·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25596" y="3611880"/>
            <a:ext cx="4937760" cy="731520"/>
          </a:xfrm>
          <a:prstGeom prst="rect">
            <a:avLst/>
          </a:prstGeom>
          <a:solidFill>
            <a:srgbClr val="161624"/>
          </a:solidFill>
          <a:ln w="12700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0">
                <a:solidFill>
                  <a:srgbClr val="F0F0F0"/>
                </a:solidFill>
                <a:latin typeface="Calibri"/>
              </a:rPr>
              <a:t>Smart Devices
HarmonyOS · Cross-device · Ambient computing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10881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chemeClr val="bg1"/>
                </a:solidFill>
                <a:latin typeface="Calibri"/>
              </a:rPr>
              <a:t>One agent architecture. Any domain. Built by </a:t>
            </a:r>
            <a:r>
              <a:rPr sz="1700" b="1" i="0" dirty="0" err="1">
                <a:solidFill>
                  <a:schemeClr val="bg1"/>
                </a:solidFill>
                <a:latin typeface="Calibri"/>
              </a:rPr>
              <a:t>JiuwenClaw</a:t>
            </a:r>
            <a:r>
              <a:rPr sz="1700" b="1" i="0" dirty="0">
                <a:solidFill>
                  <a:schemeClr val="bg1"/>
                </a:solidFill>
                <a:latin typeface="Calibri"/>
              </a:rPr>
              <a:t>. Powered by </a:t>
            </a:r>
            <a:r>
              <a:rPr sz="1700" b="1" i="0" dirty="0" err="1">
                <a:solidFill>
                  <a:schemeClr val="bg1"/>
                </a:solidFill>
                <a:latin typeface="Calibri"/>
              </a:rPr>
              <a:t>JiuwenClaw</a:t>
            </a:r>
            <a:r>
              <a:rPr sz="1700" b="1" i="0" dirty="0">
                <a:solidFill>
                  <a:schemeClr val="bg1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0F0"/>
                </a:solidFill>
                <a:latin typeface="Calibri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chemeClr val="bg1"/>
                </a:solidFill>
                <a:latin typeface="Calibri"/>
              </a:rPr>
              <a:t>For developers and enterprises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881360" cy="127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000B"/>
                </a:solidFill>
                <a:latin typeface="Calibri"/>
              </a:rPr>
              <a:t>For Developers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303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0F0"/>
                </a:solidFill>
                <a:latin typeface="Calibri"/>
              </a:rPr>
              <a:t>•  No hardcoded logic — JiuwenClaw holds it 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79192"/>
            <a:ext cx="5303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0F0"/>
                </a:solidFill>
                <a:latin typeface="Calibri"/>
              </a:rPr>
              <a:t>•  Change behavior by changing the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9544"/>
            <a:ext cx="5303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0F0"/>
                </a:solidFill>
                <a:latin typeface="Calibri"/>
              </a:rPr>
              <a:t>•  Unified intelligence across all devices + HarmonyOS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39896"/>
            <a:ext cx="5303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0F0"/>
                </a:solidFill>
                <a:latin typeface="Calibri"/>
              </a:rPr>
              <a:t>•  Open-source — full transparency, full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7722"/>
                </a:solidFill>
                <a:latin typeface="Calibri"/>
              </a:rPr>
              <a:t>For Enterprises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5303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0F0"/>
                </a:solidFill>
                <a:latin typeface="Calibri"/>
              </a:rPr>
              <a:t>→  Entire business domains built in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79192"/>
            <a:ext cx="5303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0F0"/>
                </a:solidFill>
                <a:latin typeface="Calibri"/>
              </a:rPr>
              <a:t>→  Workflows adapt — change the prompt, thin client follows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09544"/>
            <a:ext cx="5303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0F0"/>
                </a:solidFill>
                <a:latin typeface="Calibri"/>
              </a:rPr>
              <a:t>→  Self-improvement with no redeployment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39896"/>
            <a:ext cx="5303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0F0"/>
                </a:solidFill>
                <a:latin typeface="Calibri"/>
              </a:rPr>
              <a:t>→  One agent: architect AND intelligence backbone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500" b="0">
                <a:solidFill>
                  <a:srgbClr val="F0F0F0"/>
                </a:solidFill>
                <a:latin typeface="Calibri"/>
              </a:rPr>
              <a:t>By 2030, intelligent orchestration will be foundational for every digital enterprise.
JiuwenClaw positions organizations to lead that transition today.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0F0F0"/>
                </a:solidFill>
                <a:latin typeface="Calibri"/>
              </a:rPr>
              <a:t>The architect and the intelligence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7000B"/>
                </a:solidFill>
                <a:latin typeface="Calibri"/>
              </a:rPr>
              <a:t>are the same agent.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6988" y="3017520"/>
            <a:ext cx="3200400" cy="914400"/>
          </a:xfrm>
          <a:prstGeom prst="rect">
            <a:avLst/>
          </a:prstGeom>
          <a:solidFill>
            <a:srgbClr val="7A0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500" b="1">
                <a:solidFill>
                  <a:srgbClr val="F0F0F0"/>
                </a:solidFill>
                <a:latin typeface="Calibri"/>
              </a:rPr>
              <a:t>🏗️  JiuwenClaw
Builds the Thin 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494276" y="3017520"/>
            <a:ext cx="3200400" cy="914400"/>
          </a:xfrm>
          <a:prstGeom prst="rect">
            <a:avLst/>
          </a:prstGeom>
          <a:solidFill>
            <a:srgbClr val="161624"/>
          </a:solidFill>
          <a:ln w="2540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500" b="1">
                <a:solidFill>
                  <a:srgbClr val="F0F0F0"/>
                </a:solidFill>
                <a:latin typeface="Calibri"/>
              </a:rPr>
              <a:t>⚡  Thin Client
Calls JiuwenClaw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941564" y="3017520"/>
            <a:ext cx="3200400" cy="914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500" b="1">
                <a:solidFill>
                  <a:srgbClr val="F0F0F0"/>
                </a:solidFill>
                <a:latin typeface="Calibri"/>
              </a:rPr>
              <a:t>🔄  JiuwenClaw
Self-Evolves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0F0"/>
                </a:solidFill>
                <a:latin typeface="Calibri"/>
              </a:rPr>
              <a:t>This is the architecture of the next decade.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10881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 dirty="0">
                <a:solidFill>
                  <a:schemeClr val="bg1"/>
                </a:solidFill>
                <a:latin typeface="Calibri"/>
              </a:rPr>
              <a:t>Together, we will build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0F0"/>
                </a:solidFill>
                <a:latin typeface="Calibri"/>
              </a:rPr>
              <a:t>🌐 openjiuwen.com/en   ·   💻 github.com/openJiuwen-ai   ·   🧠 gitcode.com/openJiuwen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756</Words>
  <Application>Microsoft Macintosh PowerPoint</Application>
  <PresentationFormat>Custom</PresentationFormat>
  <Paragraphs>101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מאיה אטמוק</cp:lastModifiedBy>
  <cp:revision>11</cp:revision>
  <dcterms:created xsi:type="dcterms:W3CDTF">2013-01-27T09:14:16Z</dcterms:created>
  <dcterms:modified xsi:type="dcterms:W3CDTF">2026-04-18T14:45:32Z</dcterms:modified>
  <cp:category/>
</cp:coreProperties>
</file>