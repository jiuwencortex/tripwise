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60" r:id="rId6"/>
    <p:sldId id="261" r:id="rId7"/>
    <p:sldId id="273" r:id="rId8"/>
    <p:sldId id="277" r:id="rId9"/>
    <p:sldId id="278" r:id="rId10"/>
    <p:sldId id="279" r:id="rId11"/>
    <p:sldId id="280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9"/>
  </p:normalViewPr>
  <p:slideViewPr>
    <p:cSldViewPr snapToGrid="0" snapToObjects="1">
      <p:cViewPr varScale="1">
        <p:scale>
          <a:sx n="91" d="100"/>
          <a:sy n="91" d="100"/>
        </p:scale>
        <p:origin x="192" y="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5F5F7"/>
                </a:solidFill>
                <a:latin typeface="Helvetica Neue"/>
              </a:rPr>
              <a:t>There's Something in the Air…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71E3"/>
                </a:solidFill>
                <a:latin typeface="Helvetica Neue"/>
              </a:rPr>
              <a:t>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6868B"/>
                </a:solidFill>
                <a:latin typeface="Helvetica Neue"/>
              </a:rPr>
              <a:t>JiuwenClaw  ·  openJiuwen Community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The Old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Engineers write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21408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Systems execute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79776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Two separate things. Two separate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38144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Six months to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96512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6868B"/>
                </a:solidFill>
                <a:latin typeface="Helvetica Neue"/>
              </a:rPr>
              <a:t>The world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754879"/>
            <a:ext cx="7616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6868B"/>
                </a:solidFill>
                <a:latin typeface="Helvetica Neue"/>
              </a:rPr>
              <a:t>You do it all over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1E3"/>
                </a:solidFill>
                <a:latin typeface="Helvetica Neue"/>
              </a:rPr>
              <a:t>There's got to be a better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A New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86868B"/>
                </a:solidFill>
                <a:latin typeface="Helvetica Neue"/>
              </a:rPr>
              <a:t>From apps with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6459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6459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to apps that delegate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86868B"/>
                </a:solidFill>
                <a:latin typeface="Helvetica Neue"/>
              </a:rPr>
              <a:t>From systems that execute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8346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834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to systems that generate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86868B"/>
                </a:solidFill>
                <a:latin typeface="Helvetica Neue"/>
              </a:rPr>
              <a:t>From software that stays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023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0233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F5F7"/>
                </a:solidFill>
                <a:latin typeface="Helvetica Neue"/>
              </a:rPr>
              <a:t>to software that evolves itself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  <a:latin typeface="Helvetica Neue"/>
              </a:rPr>
              <a:t>This is a new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F4A72-4E3D-3A45-0E87-A0D374C1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24EC645D-DBE2-6C3B-F2C8-D7D599DEBDE5}"/>
              </a:ext>
            </a:extLst>
          </p:cNvPr>
          <p:cNvSpPr/>
          <p:nvPr/>
        </p:nvSpPr>
        <p:spPr>
          <a:xfrm>
            <a:off x="2377440" y="1417320"/>
            <a:ext cx="7723163" cy="3985260"/>
          </a:xfrm>
          <a:prstGeom prst="ellipse">
            <a:avLst/>
          </a:prstGeom>
          <a:noFill/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C54D3C-3782-066D-EE08-5E9EE255DB7B}"/>
              </a:ext>
            </a:extLst>
          </p:cNvPr>
          <p:cNvSpPr txBox="1"/>
          <p:nvPr/>
        </p:nvSpPr>
        <p:spPr>
          <a:xfrm>
            <a:off x="914400" y="274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Introducing JiuwenClaw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88A7E-8B3F-22F8-E1A8-2E079E7014A7}"/>
              </a:ext>
            </a:extLst>
          </p:cNvPr>
          <p:cNvSpPr/>
          <p:nvPr/>
        </p:nvSpPr>
        <p:spPr>
          <a:xfrm>
            <a:off x="914400" y="109728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D10CD3-9F10-980B-FEF1-42E00EBC383A}"/>
              </a:ext>
            </a:extLst>
          </p:cNvPr>
          <p:cNvSpPr/>
          <p:nvPr/>
        </p:nvSpPr>
        <p:spPr>
          <a:xfrm>
            <a:off x="4023360" y="1371600"/>
            <a:ext cx="4114795" cy="868680"/>
          </a:xfrm>
          <a:prstGeom prst="rect">
            <a:avLst/>
          </a:prstGeom>
          <a:solidFill>
            <a:srgbClr val="1D1D1F"/>
          </a:solidFill>
          <a:ln w="254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1" dirty="0">
                <a:solidFill>
                  <a:srgbClr val="F5F5F7"/>
                </a:solidFill>
                <a:latin typeface="Helvetica Neue"/>
              </a:rPr>
              <a:t>🧠 </a:t>
            </a:r>
            <a:r>
              <a:rPr sz="1500" b="1" dirty="0" err="1">
                <a:solidFill>
                  <a:srgbClr val="F5F5F7"/>
                </a:solidFill>
                <a:latin typeface="Helvetica Neue"/>
              </a:rPr>
              <a:t>JiuwenClaw</a:t>
            </a:r>
            <a:r>
              <a:rPr sz="1500" b="1" dirty="0">
                <a:solidFill>
                  <a:srgbClr val="F5F5F7"/>
                </a:solidFill>
                <a:latin typeface="Helvetica Neue"/>
              </a:rPr>
              <a:t>
Architect AND Intelligence Engine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D8297-90AF-6803-DCE7-9856B83F2B6B}"/>
              </a:ext>
            </a:extLst>
          </p:cNvPr>
          <p:cNvSpPr/>
          <p:nvPr/>
        </p:nvSpPr>
        <p:spPr>
          <a:xfrm>
            <a:off x="822960" y="2926080"/>
            <a:ext cx="320040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🏗️ Builds the Product
Code · Prompts · Schemas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6A8388-7EFF-E031-B27A-5D20329B5141}"/>
              </a:ext>
            </a:extLst>
          </p:cNvPr>
          <p:cNvSpPr/>
          <p:nvPr/>
        </p:nvSpPr>
        <p:spPr>
          <a:xfrm>
            <a:off x="8138155" y="2926080"/>
            <a:ext cx="3200400" cy="7772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⚡ Powers Intelligence
(Called at runtime)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D5EBA-D647-1340-B24F-432E7EA63037}"/>
              </a:ext>
            </a:extLst>
          </p:cNvPr>
          <p:cNvSpPr/>
          <p:nvPr/>
        </p:nvSpPr>
        <p:spPr>
          <a:xfrm>
            <a:off x="4023360" y="4663440"/>
            <a:ext cx="4114800" cy="77724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300" b="0">
                <a:solidFill>
                  <a:srgbClr val="F5F5F7"/>
                </a:solidFill>
                <a:latin typeface="Helvetica Neue"/>
              </a:rPr>
              <a:t>🖥️ The Product
(Calls JiuwenClaw for all intelligence)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CB5D38-1BDD-71F5-71B3-66EF03176A6C}"/>
              </a:ext>
            </a:extLst>
          </p:cNvPr>
          <p:cNvSpPr txBox="1"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6868B"/>
                </a:solidFill>
                <a:latin typeface="Helvetica Neue"/>
              </a:rPr>
              <a:t>The same agent that built the product is the intelligence the product calls.</a:t>
            </a:r>
          </a:p>
        </p:txBody>
      </p:sp>
    </p:spTree>
    <p:extLst>
      <p:ext uri="{BB962C8B-B14F-4D97-AF65-F5344CB8AC3E}">
        <p14:creationId xmlns:p14="http://schemas.microsoft.com/office/powerpoint/2010/main" val="413199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Let Me Show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71E3"/>
                </a:solidFill>
                <a:latin typeface="Helvetica Neue"/>
              </a:rPr>
              <a:t>TripWise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A travel planner.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0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 err="1">
                <a:solidFill>
                  <a:srgbClr val="F5F5F7"/>
                </a:solidFill>
                <a:latin typeface="Helvetica Neue"/>
              </a:rPr>
              <a:t>TripWise</a:t>
            </a:r>
            <a:r>
              <a:rPr sz="2400" b="0" i="0" dirty="0">
                <a:solidFill>
                  <a:srgbClr val="F5F5F7"/>
                </a:solidFill>
                <a:latin typeface="Helvetica Neue"/>
              </a:rPr>
              <a:t>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72C2C"/>
                </a:solidFill>
                <a:latin typeface="Helvetica Neue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39008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F5F5F7"/>
                </a:solidFill>
                <a:latin typeface="Helvetica Neue"/>
              </a:rPr>
              <a:t>travel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0171E3"/>
                </a:solidFill>
                <a:latin typeface="Helvetica Neue"/>
              </a:rPr>
              <a:t>JiuwenClaw</a:t>
            </a:r>
            <a:r>
              <a:rPr lang="en-US" sz="2000" b="1" dirty="0">
                <a:solidFill>
                  <a:srgbClr val="0171E3"/>
                </a:solidFill>
                <a:latin typeface="Helvetica Neue"/>
              </a:rPr>
              <a:t> built it. </a:t>
            </a:r>
            <a:r>
              <a:rPr lang="en-US" sz="2000" b="1" dirty="0">
                <a:solidFill>
                  <a:srgbClr val="0171E3"/>
                </a:solidFill>
              </a:rPr>
              <a:t>Now it provides the mind that operates it</a:t>
            </a:r>
            <a:r>
              <a:rPr lang="en-US" sz="2000" b="1" dirty="0">
                <a:solidFill>
                  <a:srgbClr val="0171E3"/>
                </a:solidFill>
                <a:latin typeface="Helvetica Neue"/>
              </a:rPr>
              <a:t>. Same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F5F7"/>
                </a:solidFill>
                <a:latin typeface="Helvetica Neue"/>
              </a:rPr>
              <a:t>Watch What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2436" y="2011680"/>
            <a:ext cx="1417320" cy="1234440"/>
          </a:xfrm>
          <a:prstGeom prst="rect">
            <a:avLst/>
          </a:prstGeom>
          <a:solidFill>
            <a:srgbClr val="1D1D1F"/>
          </a:solidFill>
          <a:ln w="1905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0">
                <a:solidFill>
                  <a:srgbClr val="F5F5F7"/>
                </a:solidFill>
                <a:latin typeface="Helvetica Neue"/>
              </a:rPr>
              <a:t>👤
You
30 sec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875788" y="2011680"/>
            <a:ext cx="1417320" cy="1234440"/>
          </a:xfrm>
          <a:prstGeom prst="rect">
            <a:avLst/>
          </a:prstGeom>
          <a:solidFill>
            <a:srgbClr val="1A4A2E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0">
                <a:solidFill>
                  <a:srgbClr val="F5F5F7"/>
                </a:solidFill>
                <a:latin typeface="Helvetica Neue"/>
              </a:rPr>
              <a:t>🌍
Destinations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49140" y="2011680"/>
            <a:ext cx="1417320" cy="1234440"/>
          </a:xfrm>
          <a:prstGeom prst="rect">
            <a:avLst/>
          </a:prstGeom>
          <a:solidFill>
            <a:srgbClr val="0A3A6E"/>
          </a:solidFill>
          <a:ln w="1905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0">
                <a:solidFill>
                  <a:srgbClr val="F5F5F7"/>
                </a:solidFill>
                <a:latin typeface="Helvetica Neue"/>
              </a:rPr>
              <a:t>✈️
Flights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22492" y="2011680"/>
            <a:ext cx="1417320" cy="1234440"/>
          </a:xfrm>
          <a:prstGeom prst="rect">
            <a:avLst/>
          </a:prstGeom>
          <a:solidFill>
            <a:srgbClr val="1A3A5E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0">
                <a:solidFill>
                  <a:srgbClr val="F5F5F7"/>
                </a:solidFill>
                <a:latin typeface="Helvetica Neue"/>
              </a:rPr>
              <a:t>🏨
Hotels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895844" y="2011680"/>
            <a:ext cx="1417320" cy="1234440"/>
          </a:xfrm>
          <a:prstGeom prst="rect">
            <a:avLst/>
          </a:prstGeom>
          <a:solidFill>
            <a:srgbClr val="3A1A5E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0">
                <a:solidFill>
                  <a:srgbClr val="F5F5F7"/>
                </a:solidFill>
                <a:latin typeface="Helvetica Neue"/>
              </a:rPr>
              <a:t>🎭
Attractions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69196" y="2011680"/>
            <a:ext cx="1417320" cy="1234440"/>
          </a:xfrm>
          <a:prstGeom prst="rect">
            <a:avLst/>
          </a:prstGeom>
          <a:solidFill>
            <a:srgbClr val="0071E3"/>
          </a:solidFill>
          <a:ln w="1905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500" b="1">
                <a:solidFill>
                  <a:srgbClr val="F5F5F7"/>
                </a:solidFill>
                <a:latin typeface="Helvetica Neue"/>
              </a:rPr>
              <a:t>📅
Itinerary
+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chemeClr val="bg1"/>
                </a:solidFill>
                <a:latin typeface="Helvetica Neue"/>
              </a:rPr>
              <a:t>Each step: </a:t>
            </a:r>
            <a:r>
              <a:rPr sz="1600" b="0" i="1" dirty="0" err="1">
                <a:solidFill>
                  <a:schemeClr val="bg1"/>
                </a:solidFill>
                <a:latin typeface="Helvetica Neue"/>
              </a:rPr>
              <a:t>JiuwenClaw</a:t>
            </a:r>
            <a:r>
              <a:rPr sz="1600" b="0" i="1" dirty="0">
                <a:solidFill>
                  <a:schemeClr val="bg1"/>
                </a:solidFill>
                <a:latin typeface="Helvetica Neue"/>
              </a:rPr>
              <a:t> reasons from everything decided so far.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5F5F7"/>
                </a:solidFill>
                <a:latin typeface="Helvetica Neue"/>
              </a:rPr>
              <a:t>One agent. One demo. The entire vertical.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71E3"/>
                </a:solidFill>
                <a:latin typeface="Helvetica Neue"/>
              </a:rPr>
              <a:t>The agent that built every step is the intelligence every step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07B30-5BA2-6140-6EC6-1446CE10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45269D3-3419-128F-776A-C656E1DDD2D8}"/>
              </a:ext>
            </a:extLst>
          </p:cNvPr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F5F7"/>
                </a:solidFill>
                <a:latin typeface="Helvetica Neue"/>
              </a:rPr>
              <a:t>The Pattern Scales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6E795D-4DC9-321D-989B-FF4421878E43}"/>
              </a:ext>
            </a:extLst>
          </p:cNvPr>
          <p:cNvSpPr/>
          <p:nvPr/>
        </p:nvSpPr>
        <p:spPr>
          <a:xfrm>
            <a:off x="914400" y="10515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27276-ED01-EF51-DF03-369CD154E544}"/>
              </a:ext>
            </a:extLst>
          </p:cNvPr>
          <p:cNvSpPr txBox="1"/>
          <p:nvPr/>
        </p:nvSpPr>
        <p:spPr>
          <a:xfrm>
            <a:off x="457200" y="1371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86868B"/>
                </a:solidFill>
                <a:latin typeface="Helvetica Neue"/>
              </a:rPr>
              <a:t>If JiuwenClaw can build and power one experience 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C48361-5413-ED49-7CE6-38BD9DD3A14D}"/>
              </a:ext>
            </a:extLst>
          </p:cNvPr>
          <p:cNvSpPr txBox="1"/>
          <p:nvPr/>
        </p:nvSpPr>
        <p:spPr>
          <a:xfrm>
            <a:off x="6400800" y="1371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Helvetica Neue"/>
              </a:rPr>
              <a:t>it can build and power many.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07474-C1E4-DF64-32AD-D4979C1B0DF3}"/>
              </a:ext>
            </a:extLst>
          </p:cNvPr>
          <p:cNvSpPr txBox="1"/>
          <p:nvPr/>
        </p:nvSpPr>
        <p:spPr>
          <a:xfrm>
            <a:off x="457200" y="21488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86868B"/>
                </a:solidFill>
                <a:latin typeface="Helvetica Neue"/>
              </a:rPr>
              <a:t>If it can reason about one domain 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25C745-543A-2BFD-2404-ACFBB949AEFC}"/>
              </a:ext>
            </a:extLst>
          </p:cNvPr>
          <p:cNvSpPr txBox="1"/>
          <p:nvPr/>
        </p:nvSpPr>
        <p:spPr>
          <a:xfrm>
            <a:off x="6400800" y="21488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Helvetica Neue"/>
              </a:rPr>
              <a:t>it can reason across domains.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760F1-D3FA-4BD6-E511-76891944B108}"/>
              </a:ext>
            </a:extLst>
          </p:cNvPr>
          <p:cNvSpPr txBox="1"/>
          <p:nvPr/>
        </p:nvSpPr>
        <p:spPr>
          <a:xfrm>
            <a:off x="457200" y="292608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86868B"/>
                </a:solidFill>
                <a:latin typeface="Helvetica Neue"/>
              </a:rPr>
              <a:t>If it can power one workflow 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78C35-94CE-931A-9A45-08DCB4D04CEE}"/>
              </a:ext>
            </a:extLst>
          </p:cNvPr>
          <p:cNvSpPr txBox="1"/>
          <p:nvPr/>
        </p:nvSpPr>
        <p:spPr>
          <a:xfrm>
            <a:off x="6400800" y="29260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F5F7"/>
                </a:solidFill>
                <a:latin typeface="Helvetica Neue"/>
              </a:rPr>
              <a:t>it can power entire environments.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E3F00F-CFD8-4E68-C7D2-F13762EB9963}"/>
              </a:ext>
            </a:extLst>
          </p:cNvPr>
          <p:cNvSpPr/>
          <p:nvPr/>
        </p:nvSpPr>
        <p:spPr>
          <a:xfrm>
            <a:off x="2665476" y="3657600"/>
            <a:ext cx="6858000" cy="777240"/>
          </a:xfrm>
          <a:prstGeom prst="rect">
            <a:avLst/>
          </a:prstGeom>
          <a:solidFill>
            <a:srgbClr val="2A2A2C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Any Application
Travel · Work · Creativity · Communication</a:t>
            </a:r>
          </a:p>
        </p:txBody>
      </p:sp>
      <p:cxnSp>
        <p:nvCxnSpPr>
          <p:cNvPr id="25" name="Connector 10">
            <a:extLst>
              <a:ext uri="{FF2B5EF4-FFF2-40B4-BE49-F238E27FC236}">
                <a16:creationId xmlns:a16="http://schemas.microsoft.com/office/drawing/2014/main" id="{1FF3FE35-A985-0AD1-36D9-ED2F540EB989}"/>
              </a:ext>
            </a:extLst>
          </p:cNvPr>
          <p:cNvCxnSpPr/>
          <p:nvPr/>
        </p:nvCxnSpPr>
        <p:spPr>
          <a:xfrm>
            <a:off x="0" y="4434840"/>
            <a:ext cx="0" cy="18288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AECF9D4-BEB8-0B79-7FBC-17A131C46D37}"/>
              </a:ext>
            </a:extLst>
          </p:cNvPr>
          <p:cNvSpPr/>
          <p:nvPr/>
        </p:nvSpPr>
        <p:spPr>
          <a:xfrm>
            <a:off x="2665476" y="4617720"/>
            <a:ext cx="6858000" cy="777240"/>
          </a:xfrm>
          <a:prstGeom prst="rect">
            <a:avLst/>
          </a:prstGeom>
          <a:solidFill>
            <a:srgbClr val="1D1D1F"/>
          </a:solidFill>
          <a:ln w="254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🧠 JiuwenClaw
Architect · Intelligence Engine · Evolver</a:t>
            </a:r>
          </a:p>
        </p:txBody>
      </p:sp>
      <p:cxnSp>
        <p:nvCxnSpPr>
          <p:cNvPr id="27" name="Connector 12">
            <a:extLst>
              <a:ext uri="{FF2B5EF4-FFF2-40B4-BE49-F238E27FC236}">
                <a16:creationId xmlns:a16="http://schemas.microsoft.com/office/drawing/2014/main" id="{8C6B0AE4-E252-3967-54DD-69E97DF786A6}"/>
              </a:ext>
            </a:extLst>
          </p:cNvPr>
          <p:cNvCxnSpPr/>
          <p:nvPr/>
        </p:nvCxnSpPr>
        <p:spPr>
          <a:xfrm>
            <a:off x="0" y="5394960"/>
            <a:ext cx="0" cy="182880"/>
          </a:xfrm>
          <a:prstGeom prst="line">
            <a:avLst/>
          </a:prstGeom>
          <a:ln w="25400">
            <a:solidFill>
              <a:srgbClr val="86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2B9D69F-CC54-0656-9F7B-B1EBAE391835}"/>
              </a:ext>
            </a:extLst>
          </p:cNvPr>
          <p:cNvSpPr/>
          <p:nvPr/>
        </p:nvSpPr>
        <p:spPr>
          <a:xfrm>
            <a:off x="2665476" y="5577840"/>
            <a:ext cx="6858000" cy="777240"/>
          </a:xfrm>
          <a:prstGeom prst="rect">
            <a:avLst/>
          </a:prstGeom>
          <a:solidFill>
            <a:srgbClr val="1A1A1C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86868B"/>
                </a:solidFill>
                <a:latin typeface="Helvetica Neue"/>
              </a:rPr>
              <a:t>System Resources
Browser · Files · APIs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3FE538-7841-1FC2-C2C4-0FD8166F3989}"/>
              </a:ext>
            </a:extLst>
          </p:cNvPr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6868B"/>
                </a:solidFill>
                <a:latin typeface="Helvetica Neue"/>
              </a:rPr>
              <a:t>Intelligence not inside the app.  Beneath the app.  As both architect and engine.</a:t>
            </a:r>
          </a:p>
        </p:txBody>
      </p:sp>
    </p:spTree>
    <p:extLst>
      <p:ext uri="{BB962C8B-B14F-4D97-AF65-F5344CB8AC3E}">
        <p14:creationId xmlns:p14="http://schemas.microsoft.com/office/powerpoint/2010/main" val="308500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683CD-42B9-B75E-8D9D-073CC167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074582-FF55-D202-F97D-05CB7770EA93}"/>
              </a:ext>
            </a:extLst>
          </p:cNvPr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F5F7"/>
                </a:solidFill>
                <a:latin typeface="Helvetica Neue"/>
              </a:rPr>
              <a:t>But Here's What's Bigger.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F7ED28-3741-797D-B69F-3975E659C696}"/>
              </a:ext>
            </a:extLst>
          </p:cNvPr>
          <p:cNvSpPr/>
          <p:nvPr/>
        </p:nvSpPr>
        <p:spPr>
          <a:xfrm>
            <a:off x="914400" y="10515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3C116-FA2C-1401-D579-F867E08A518A}"/>
              </a:ext>
            </a:extLst>
          </p:cNvPr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JiuwenClaw is part of the openJiuwen ecosystem.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C53F7-7545-AEAB-BF56-328F014428EC}"/>
              </a:ext>
            </a:extLst>
          </p:cNvPr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071E3"/>
                </a:solidFill>
                <a:latin typeface="Helvetica Neue"/>
              </a:rPr>
              <a:t>And the ecosystem gives you a choice.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93FE3-4816-2CB1-AB6E-1B1560129D3C}"/>
              </a:ext>
            </a:extLst>
          </p:cNvPr>
          <p:cNvSpPr/>
          <p:nvPr/>
        </p:nvSpPr>
        <p:spPr>
          <a:xfrm>
            <a:off x="4754880" y="2468880"/>
            <a:ext cx="2743200" cy="685800"/>
          </a:xfrm>
          <a:prstGeom prst="rect">
            <a:avLst/>
          </a:prstGeom>
          <a:solidFill>
            <a:srgbClr val="004080"/>
          </a:solidFill>
          <a:ln w="1905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300" b="0">
                <a:solidFill>
                  <a:srgbClr val="F5F5F7"/>
                </a:solidFill>
                <a:latin typeface="Helvetica Neue"/>
              </a:rPr>
              <a:t>🖥️ TripWise
(Thin Client)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01F963-44B8-C1B6-C303-34F88C28CB2F}"/>
              </a:ext>
            </a:extLst>
          </p:cNvPr>
          <p:cNvSpPr/>
          <p:nvPr/>
        </p:nvSpPr>
        <p:spPr>
          <a:xfrm>
            <a:off x="914400" y="3931920"/>
            <a:ext cx="3474720" cy="1188720"/>
          </a:xfrm>
          <a:prstGeom prst="rect">
            <a:avLst/>
          </a:prstGeom>
          <a:solidFill>
            <a:srgbClr val="1D1D1F"/>
          </a:solidFill>
          <a:ln w="2540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🧠 JiuwenClaw
Live openJiuwen Agent
WebSocket — ready now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E2D53-529F-ACD2-D66F-5E03812D1891}"/>
              </a:ext>
            </a:extLst>
          </p:cNvPr>
          <p:cNvSpPr/>
          <p:nvPr/>
        </p:nvSpPr>
        <p:spPr>
          <a:xfrm>
            <a:off x="7680960" y="3931920"/>
            <a:ext cx="3474720" cy="1188720"/>
          </a:xfrm>
          <a:prstGeom prst="rect">
            <a:avLst/>
          </a:prstGeom>
          <a:solidFill>
            <a:srgbClr val="003A7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400" b="0">
                <a:solidFill>
                  <a:srgbClr val="F5F5F7"/>
                </a:solidFill>
                <a:latin typeface="Helvetica Neue"/>
              </a:rPr>
              <a:t>🔧 OpenJiuwen
Build Your Own Private Agent
REST — your intelligence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EE4EBE9-53E4-39F3-330E-D61A268B82F0}"/>
              </a:ext>
            </a:extLst>
          </p:cNvPr>
          <p:cNvCxnSpPr/>
          <p:nvPr/>
        </p:nvCxnSpPr>
        <p:spPr>
          <a:xfrm flipH="1">
            <a:off x="2651760" y="2807208"/>
            <a:ext cx="2103120" cy="1124712"/>
          </a:xfrm>
          <a:prstGeom prst="line">
            <a:avLst/>
          </a:prstGeom>
          <a:ln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87D3055E-E3A5-FA8B-A6C2-FD0CC4B96560}"/>
              </a:ext>
            </a:extLst>
          </p:cNvPr>
          <p:cNvCxnSpPr/>
          <p:nvPr/>
        </p:nvCxnSpPr>
        <p:spPr>
          <a:xfrm>
            <a:off x="7498079" y="2807208"/>
            <a:ext cx="1920241" cy="1124712"/>
          </a:xfrm>
          <a:prstGeom prst="line">
            <a:avLst/>
          </a:prstGeom>
          <a:ln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E61D12-1EA8-8D3A-1CE1-0FC2648751A8}"/>
              </a:ext>
            </a:extLst>
          </p:cNvPr>
          <p:cNvSpPr txBox="1"/>
          <p:nvPr/>
        </p:nvSpPr>
        <p:spPr>
          <a:xfrm rot="19933234">
            <a:off x="2268440" y="3192459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chemeClr val="bg1"/>
                </a:solidFill>
                <a:latin typeface="Helvetica Neue"/>
              </a:rPr>
              <a:t>calls for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4F953-DF43-5D04-B3CD-C73CF7A9D8C1}"/>
              </a:ext>
            </a:extLst>
          </p:cNvPr>
          <p:cNvSpPr txBox="1"/>
          <p:nvPr/>
        </p:nvSpPr>
        <p:spPr>
          <a:xfrm rot="1752077">
            <a:off x="7508495" y="328604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chemeClr val="bg1"/>
                </a:solidFill>
                <a:latin typeface="Helvetica Neue"/>
              </a:rPr>
              <a:t>calls for intelligence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85A0F-C074-8B15-D030-FFF9FC7A1EEB}"/>
              </a:ext>
            </a:extLst>
          </p:cNvPr>
          <p:cNvSpPr txBox="1"/>
          <p:nvPr/>
        </p:nvSpPr>
        <p:spPr>
          <a:xfrm>
            <a:off x="731520" y="5166360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chemeClr val="bg1"/>
                </a:solidFill>
                <a:latin typeface="Helvetica Neue"/>
              </a:rPr>
              <a:t>Use the live community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084C0-28EE-ACB2-BADA-D06563DBC20E}"/>
              </a:ext>
            </a:extLst>
          </p:cNvPr>
          <p:cNvSpPr txBox="1"/>
          <p:nvPr/>
        </p:nvSpPr>
        <p:spPr>
          <a:xfrm>
            <a:off x="7498079" y="5166360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chemeClr val="bg1"/>
                </a:solidFill>
                <a:latin typeface="Helvetica Neue"/>
              </a:rPr>
              <a:t>Own your intelligence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B015B-59A2-EE1C-7C6A-28F4A0746220}"/>
              </a:ext>
            </a:extLst>
          </p:cNvPr>
          <p:cNvSpPr txBox="1"/>
          <p:nvPr/>
        </p:nvSpPr>
        <p:spPr>
          <a:xfrm>
            <a:off x="0" y="5943600"/>
            <a:ext cx="12095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171E3"/>
                </a:solidFill>
                <a:latin typeface="Helvetica Neue"/>
              </a:rPr>
              <a:t>Both integrations equally smooth.  Same prompts.  Same JSON back.  The thin client just calls.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EB6B92-F610-4C32-6D5A-FD92668DAF34}"/>
              </a:ext>
            </a:extLst>
          </p:cNvPr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chemeClr val="bg1"/>
                </a:solidFill>
                <a:latin typeface="Helvetica Neue"/>
              </a:rPr>
              <a:t>The ecosystem answers. Your way.</a:t>
            </a:r>
          </a:p>
        </p:txBody>
      </p:sp>
    </p:spTree>
    <p:extLst>
      <p:ext uri="{BB962C8B-B14F-4D97-AF65-F5344CB8AC3E}">
        <p14:creationId xmlns:p14="http://schemas.microsoft.com/office/powerpoint/2010/main" val="171443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27DEB-0DFB-4A45-9063-22744B99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13C3B8-5048-26A9-D98D-DDF2C25A8536}"/>
              </a:ext>
            </a:extLst>
          </p:cNvPr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86868B"/>
                </a:solidFill>
                <a:latin typeface="Helvetica Neue"/>
              </a:rPr>
              <a:t>And now…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3F6EC-DFFC-EDF7-1C38-462364961DDF}"/>
              </a:ext>
            </a:extLst>
          </p:cNvPr>
          <p:cNvSpPr txBox="1"/>
          <p:nvPr/>
        </p:nvSpPr>
        <p:spPr>
          <a:xfrm>
            <a:off x="914400" y="1463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F5F7"/>
                </a:solidFill>
                <a:latin typeface="Helvetica Neue"/>
              </a:rPr>
              <a:t>One more thing.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7A8EF-9231-2523-928D-6E7E22991A3A}"/>
              </a:ext>
            </a:extLst>
          </p:cNvPr>
          <p:cNvSpPr txBox="1"/>
          <p:nvPr/>
        </p:nvSpPr>
        <p:spPr>
          <a:xfrm>
            <a:off x="914400" y="2560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JiuwenClaw doesn't just build the product and power its intelligence.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650E8-6201-102D-8009-61808361923E}"/>
              </a:ext>
            </a:extLst>
          </p:cNvPr>
          <p:cNvSpPr txBox="1"/>
          <p:nvPr/>
        </p:nvSpPr>
        <p:spPr>
          <a:xfrm>
            <a:off x="914400" y="3108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71E3"/>
                </a:solidFill>
                <a:latin typeface="Helvetica Neue"/>
              </a:rPr>
              <a:t>It evolves it.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2D7FF-FD05-0171-47CB-D4D0C3C48C10}"/>
              </a:ext>
            </a:extLst>
          </p:cNvPr>
          <p:cNvSpPr txBox="1"/>
          <p:nvPr/>
        </p:nvSpPr>
        <p:spPr>
          <a:xfrm>
            <a:off x="1828800" y="3977639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4C759"/>
                </a:solidFill>
                <a:latin typeface="Helvetica Neue"/>
              </a:rPr>
              <a:t>Skills Autonomous Evolution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41E46E-90F1-E656-1DD0-8E6A99668340}"/>
              </a:ext>
            </a:extLst>
          </p:cNvPr>
          <p:cNvSpPr txBox="1"/>
          <p:nvPr/>
        </p:nvSpPr>
        <p:spPr>
          <a:xfrm>
            <a:off x="1371600" y="46177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6868B"/>
                </a:solidFill>
                <a:latin typeface="Helvetica Neue"/>
              </a:rPr>
              <a:t>When JiuwenClaw encounters a failure — it captures it, studies it,
and improves itself. Automatically. Without a single line of human code.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FDAB72-5D96-9155-B170-A0A1167F5D32}"/>
              </a:ext>
            </a:extLst>
          </p:cNvPr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F5F7"/>
                </a:solidFill>
                <a:latin typeface="Helvetica Neue"/>
              </a:rPr>
              <a:t>Architect.  Intelligence engine.  Teacher of itself.</a:t>
            </a:r>
          </a:p>
        </p:txBody>
      </p:sp>
    </p:spTree>
    <p:extLst>
      <p:ext uri="{BB962C8B-B14F-4D97-AF65-F5344CB8AC3E}">
        <p14:creationId xmlns:p14="http://schemas.microsoft.com/office/powerpoint/2010/main" val="9728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25DFB-83F6-581C-BCEA-06A7D03C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80A2C9-1774-75A3-943D-55CA044C6F2E}"/>
              </a:ext>
            </a:extLst>
          </p:cNvPr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F5F7"/>
                </a:solidFill>
                <a:latin typeface="Helvetica Neue"/>
              </a:rPr>
              <a:t>This Is the Next Chapter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90C9B-5C3E-4619-CDF6-8377BF44F98C}"/>
              </a:ext>
            </a:extLst>
          </p:cNvPr>
          <p:cNvSpPr/>
          <p:nvPr/>
        </p:nvSpPr>
        <p:spPr>
          <a:xfrm>
            <a:off x="914400" y="105156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1639C-7511-B749-8140-F90E4ED77D64}"/>
              </a:ext>
            </a:extLst>
          </p:cNvPr>
          <p:cNvSpPr txBox="1"/>
          <p:nvPr/>
        </p:nvSpPr>
        <p:spPr>
          <a:xfrm>
            <a:off x="1828800" y="13716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5F5F7"/>
                </a:solidFill>
                <a:latin typeface="Helvetica Neue"/>
              </a:rPr>
              <a:t>→  The agent that builds the system is the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C951AD-645A-B106-3075-FB07E303C824}"/>
              </a:ext>
            </a:extLst>
          </p:cNvPr>
          <p:cNvSpPr txBox="1"/>
          <p:nvPr/>
        </p:nvSpPr>
        <p:spPr>
          <a:xfrm>
            <a:off x="1828800" y="22402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5F5F7"/>
                </a:solidFill>
                <a:latin typeface="Helvetica Neue"/>
              </a:rPr>
              <a:t>→  Experiences aren't installed — they're generated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CFDABF-606A-D2F4-63E1-053559C0B957}"/>
              </a:ext>
            </a:extLst>
          </p:cNvPr>
          <p:cNvSpPr txBox="1"/>
          <p:nvPr/>
        </p:nvSpPr>
        <p:spPr>
          <a:xfrm>
            <a:off x="1828800" y="310896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5F5F7"/>
                </a:solidFill>
                <a:latin typeface="Helvetica Neue"/>
              </a:rPr>
              <a:t>→  Workflows aren't configured — they're inferred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27024-06A1-D8D8-C07E-1337F94D42A6}"/>
              </a:ext>
            </a:extLst>
          </p:cNvPr>
          <p:cNvSpPr txBox="1"/>
          <p:nvPr/>
        </p:nvSpPr>
        <p:spPr>
          <a:xfrm>
            <a:off x="1828800" y="3977639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5F5F7"/>
                </a:solidFill>
                <a:latin typeface="Helvetica Neue"/>
              </a:rPr>
              <a:t>→  Systems don't stagnate — they evolve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3F33F-5056-0225-A0E1-BFE93F8351E0}"/>
              </a:ext>
            </a:extLst>
          </p:cNvPr>
          <p:cNvSpPr txBox="1"/>
          <p:nvPr/>
        </p:nvSpPr>
        <p:spPr>
          <a:xfrm>
            <a:off x="1828800" y="484632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71E3"/>
                </a:solidFill>
                <a:latin typeface="Helvetica Neue"/>
              </a:rPr>
              <a:t>→  Intelligence becomes the platform beneath everything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C06885-A1BD-F4B5-4BD1-452C0705FF86}"/>
              </a:ext>
            </a:extLst>
          </p:cNvPr>
          <p:cNvSpPr/>
          <p:nvPr/>
        </p:nvSpPr>
        <p:spPr>
          <a:xfrm>
            <a:off x="457200" y="5760720"/>
            <a:ext cx="2834640" cy="640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600" b="1">
                <a:solidFill>
                  <a:srgbClr val="F5F5F7"/>
                </a:solidFill>
                <a:latin typeface="Helvetica Neue"/>
              </a:rPr>
              <a:t>🏗️  Builds Product</a:t>
            </a:r>
          </a:p>
        </p:txBody>
      </p: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A627745E-0F01-F96A-B911-9AFAC08B89BE}"/>
              </a:ext>
            </a:extLst>
          </p:cNvPr>
          <p:cNvCxnSpPr/>
          <p:nvPr/>
        </p:nvCxnSpPr>
        <p:spPr>
          <a:xfrm>
            <a:off x="3291840" y="0"/>
            <a:ext cx="1005840" cy="0"/>
          </a:xfrm>
          <a:prstGeom prst="line">
            <a:avLst/>
          </a:prstGeom>
          <a:ln w="2540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4B4555B-DEFD-834B-059B-2F9ADA7AA94C}"/>
              </a:ext>
            </a:extLst>
          </p:cNvPr>
          <p:cNvSpPr/>
          <p:nvPr/>
        </p:nvSpPr>
        <p:spPr>
          <a:xfrm>
            <a:off x="4297680" y="5760720"/>
            <a:ext cx="2834640" cy="6400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600" b="1">
                <a:solidFill>
                  <a:srgbClr val="F5F5F7"/>
                </a:solidFill>
                <a:latin typeface="Helvetica Neue"/>
              </a:rPr>
              <a:t>⚡  Powers Intelligence</a:t>
            </a:r>
          </a:p>
        </p:txBody>
      </p:sp>
      <p:cxnSp>
        <p:nvCxnSpPr>
          <p:cNvPr id="24" name="Connector 11">
            <a:extLst>
              <a:ext uri="{FF2B5EF4-FFF2-40B4-BE49-F238E27FC236}">
                <a16:creationId xmlns:a16="http://schemas.microsoft.com/office/drawing/2014/main" id="{FD6D8812-2238-B016-77E2-8B091472AF23}"/>
              </a:ext>
            </a:extLst>
          </p:cNvPr>
          <p:cNvCxnSpPr/>
          <p:nvPr/>
        </p:nvCxnSpPr>
        <p:spPr>
          <a:xfrm>
            <a:off x="7132320" y="0"/>
            <a:ext cx="1005840" cy="0"/>
          </a:xfrm>
          <a:prstGeom prst="line">
            <a:avLst/>
          </a:prstGeom>
          <a:ln w="2540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0EA5235-DB62-16FE-86EF-ABAA2FA7A92E}"/>
              </a:ext>
            </a:extLst>
          </p:cNvPr>
          <p:cNvSpPr/>
          <p:nvPr/>
        </p:nvSpPr>
        <p:spPr>
          <a:xfrm>
            <a:off x="8138160" y="5760720"/>
            <a:ext cx="2834640" cy="6400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sz="1600" b="1" dirty="0">
                <a:solidFill>
                  <a:srgbClr val="F5F5F7"/>
                </a:solidFill>
                <a:latin typeface="Helvetica Neue"/>
              </a:rPr>
              <a:t>🔄  Evolves </a:t>
            </a:r>
            <a:r>
              <a:rPr lang="en-US" sz="1600" b="1" dirty="0">
                <a:solidFill>
                  <a:srgbClr val="F5F5F7"/>
                </a:solidFill>
                <a:latin typeface="Helvetica Neue"/>
              </a:rPr>
              <a:t>Itself</a:t>
            </a:r>
            <a:endParaRPr sz="1600" b="1" dirty="0">
              <a:solidFill>
                <a:srgbClr val="F5F5F7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9479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F4D3B-8B19-0827-C462-52C715CB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C9EE784-8418-DCE5-7FAC-AD7CE25E1754}"/>
              </a:ext>
            </a:extLst>
          </p:cNvPr>
          <p:cNvSpPr txBox="1"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F5F7"/>
                </a:solidFill>
                <a:latin typeface="Helvetica Neue"/>
              </a:rPr>
              <a:t>The architect and the intelligence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EB6BB-36C4-39F3-ECBD-5494AEC49767}"/>
              </a:ext>
            </a:extLst>
          </p:cNvPr>
          <p:cNvSpPr txBox="1"/>
          <p:nvPr/>
        </p:nvSpPr>
        <p:spPr>
          <a:xfrm>
            <a:off x="457200" y="21031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71E3"/>
                </a:solidFill>
                <a:latin typeface="Helvetica Neue"/>
              </a:rPr>
              <a:t>are the same agent.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5416F-DB25-238B-DACD-CEAA88CA10EA}"/>
              </a:ext>
            </a:extLst>
          </p:cNvPr>
          <p:cNvSpPr txBox="1"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F5F7"/>
                </a:solidFill>
                <a:latin typeface="Helvetica Neue"/>
              </a:rPr>
              <a:t>That is the new foundation for computing.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58836-ADB8-E9D7-1EC0-5820C53D2479}"/>
              </a:ext>
            </a:extLst>
          </p:cNvPr>
          <p:cNvSpPr txBox="1"/>
          <p:nvPr/>
        </p:nvSpPr>
        <p:spPr>
          <a:xfrm>
            <a:off x="457200" y="37947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6868B"/>
                </a:solidFill>
                <a:latin typeface="Helvetica Neue"/>
              </a:rPr>
              <a:t>And today… we're taking the first step.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545176-82FE-D5ED-A3B5-4DC7C3288655}"/>
              </a:ext>
            </a:extLst>
          </p:cNvPr>
          <p:cNvSpPr/>
          <p:nvPr/>
        </p:nvSpPr>
        <p:spPr>
          <a:xfrm>
            <a:off x="914400" y="4754880"/>
            <a:ext cx="10360152" cy="127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8D4A65-8A53-91C1-66F9-5FA7D3176573}"/>
              </a:ext>
            </a:extLst>
          </p:cNvPr>
          <p:cNvSpPr txBox="1"/>
          <p:nvPr/>
        </p:nvSpPr>
        <p:spPr>
          <a:xfrm>
            <a:off x="-548640" y="50419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chemeClr val="bg1"/>
                </a:solidFill>
                <a:latin typeface="Helvetica Neue"/>
              </a:rPr>
              <a:t>🌐  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openjiuwen.com</a:t>
            </a:r>
            <a:r>
              <a:rPr sz="1800" b="0" i="0" dirty="0">
                <a:solidFill>
                  <a:schemeClr val="bg1"/>
                </a:solidFill>
                <a:latin typeface="Helvetica Neue"/>
              </a:rPr>
              <a:t>/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en</a:t>
            </a:r>
            <a:endParaRPr sz="1800" b="0" i="0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256DF-F00F-379A-FC17-54F784F993A8}"/>
              </a:ext>
            </a:extLst>
          </p:cNvPr>
          <p:cNvSpPr txBox="1"/>
          <p:nvPr/>
        </p:nvSpPr>
        <p:spPr>
          <a:xfrm>
            <a:off x="7118430" y="50292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chemeClr val="bg1"/>
                </a:solidFill>
                <a:latin typeface="Helvetica Neue"/>
              </a:rPr>
              <a:t>💻  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git</a:t>
            </a:r>
            <a:r>
              <a:rPr lang="en-US" sz="1800" b="0" i="0" dirty="0" err="1">
                <a:solidFill>
                  <a:schemeClr val="bg1"/>
                </a:solidFill>
                <a:latin typeface="Helvetica Neue"/>
              </a:rPr>
              <a:t>code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.com</a:t>
            </a:r>
            <a:r>
              <a:rPr sz="1800" b="0" i="0" dirty="0">
                <a:solidFill>
                  <a:schemeClr val="bg1"/>
                </a:solidFill>
                <a:latin typeface="Helvetica Neue"/>
              </a:rPr>
              <a:t>/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ope</a:t>
            </a:r>
            <a:r>
              <a:rPr lang="en-US" sz="1800" b="0" i="0" dirty="0" err="1">
                <a:solidFill>
                  <a:schemeClr val="bg1"/>
                </a:solidFill>
                <a:latin typeface="Helvetica Neue"/>
              </a:rPr>
              <a:t>nj</a:t>
            </a:r>
            <a:r>
              <a:rPr sz="1800" b="0" i="0" dirty="0" err="1">
                <a:solidFill>
                  <a:schemeClr val="bg1"/>
                </a:solidFill>
                <a:latin typeface="Helvetica Neue"/>
              </a:rPr>
              <a:t>iuwe</a:t>
            </a:r>
            <a:r>
              <a:rPr lang="en-US" sz="1800" b="0" i="0" dirty="0" err="1">
                <a:solidFill>
                  <a:schemeClr val="bg1"/>
                </a:solidFill>
                <a:latin typeface="Helvetica Neue"/>
              </a:rPr>
              <a:t>n</a:t>
            </a:r>
            <a:endParaRPr sz="1800" b="0" i="0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FF2A65-39E2-6F6F-4E25-C52951E72FE0}"/>
              </a:ext>
            </a:extLst>
          </p:cNvPr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484A"/>
                </a:solidFill>
                <a:latin typeface="Helvetica Neue"/>
              </a:rPr>
              <a:t>JiuwenClaw  ·  openJiuwen Community  · 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A0B830-D27E-4827-3160-6A1301D16842}"/>
              </a:ext>
            </a:extLst>
          </p:cNvPr>
          <p:cNvSpPr txBox="1"/>
          <p:nvPr/>
        </p:nvSpPr>
        <p:spPr>
          <a:xfrm>
            <a:off x="3097385" y="504190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dirty="0">
                <a:solidFill>
                  <a:schemeClr val="bg1"/>
                </a:solidFill>
                <a:latin typeface="Helvetica Neue"/>
              </a:rPr>
              <a:t>💻  </a:t>
            </a:r>
            <a:r>
              <a:rPr lang="en-US" dirty="0" err="1">
                <a:solidFill>
                  <a:schemeClr val="bg1"/>
                </a:solidFill>
                <a:latin typeface="Helvetica Neue"/>
              </a:rPr>
              <a:t>github.com</a:t>
            </a:r>
            <a:r>
              <a:rPr lang="en-US" dirty="0">
                <a:solidFill>
                  <a:schemeClr val="bg1"/>
                </a:solidFill>
                <a:latin typeface="Helvetica Neue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Helvetica Neue"/>
              </a:rPr>
              <a:t>openJiuwen</a:t>
            </a:r>
            <a:r>
              <a:rPr lang="en-US" dirty="0">
                <a:solidFill>
                  <a:schemeClr val="bg1"/>
                </a:solidFill>
                <a:latin typeface="Helvetica Neue"/>
              </a:rPr>
              <a:t>-ai</a:t>
            </a:r>
          </a:p>
        </p:txBody>
      </p:sp>
    </p:spTree>
    <p:extLst>
      <p:ext uri="{BB962C8B-B14F-4D97-AF65-F5344CB8AC3E}">
        <p14:creationId xmlns:p14="http://schemas.microsoft.com/office/powerpoint/2010/main" val="197667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595</Words>
  <Application>Microsoft Macintosh PowerPoint</Application>
  <PresentationFormat>Custom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מאיה אטמוק</cp:lastModifiedBy>
  <cp:revision>14</cp:revision>
  <dcterms:created xsi:type="dcterms:W3CDTF">2013-01-27T09:14:16Z</dcterms:created>
  <dcterms:modified xsi:type="dcterms:W3CDTF">2026-04-18T14:44:15Z</dcterms:modified>
  <cp:category/>
</cp:coreProperties>
</file>